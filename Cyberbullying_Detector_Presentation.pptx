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628"/>
                </a:solidFill>
                <a:latin typeface="Arial"/>
              </a:rPr>
              <a:t>All Metrics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9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A2E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LSTM</c:v>
                  </c:pt>
                  <c:pt idx="2">
                    <c:v>BERT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52.78</c:v>
                </c:pt>
                <c:pt idx="1">
                  <c:v>91.67</c:v>
                </c:pt>
                <c:pt idx="2">
                  <c:v>84.72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0C9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A2E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LSTM</c:v>
                  </c:pt>
                  <c:pt idx="2">
                    <c:v>BERT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51.43</c:v>
                </c:pt>
                <c:pt idx="1">
                  <c:v>92.86</c:v>
                </c:pt>
                <c:pt idx="2">
                  <c:v>89.06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7B2F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A2E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LSTM</c:v>
                  </c:pt>
                  <c:pt idx="2">
                    <c:v>BERT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90.28</c:v>
                </c:pt>
                <c:pt idx="2">
                  <c:v>79.17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A2E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LSTM</c:v>
                  </c:pt>
                  <c:pt idx="2">
                    <c:v>BERT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67.92</c:v>
                </c:pt>
                <c:pt idx="1">
                  <c:v>91.55</c:v>
                </c:pt>
                <c:pt idx="2">
                  <c:v>83.82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A2E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51224"/>
          </a:solidFill>
          <a:ln w="12700">
            <a:solidFill>
              <a:srgbClr val="0512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1645920" cy="1645920"/>
          </a:xfrm>
          <a:prstGeom prst="ellipse">
            <a:avLst/>
          </a:prstGeom>
          <a:solidFill>
            <a:srgbClr val="00C9B1">
              <a:alpha val="12000"/>
            </a:srgbClr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371600"/>
            <a:ext cx="914400" cy="914400"/>
          </a:xfrm>
          <a:prstGeom prst="ellipse">
            <a:avLst/>
          </a:prstGeom>
          <a:solidFill>
            <a:srgbClr val="0096D6">
              <a:alpha val="15000"/>
            </a:srgbClr>
          </a:solidFill>
          <a:ln w="12700">
            <a:solidFill>
              <a:srgbClr val="009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3474720"/>
            <a:ext cx="2194560" cy="2194560"/>
          </a:xfrm>
          <a:prstGeom prst="ellipse">
            <a:avLst/>
          </a:prstGeom>
          <a:solidFill>
            <a:srgbClr val="005F8E">
              <a:alpha val="10000"/>
            </a:srgbClr>
          </a:solidFill>
          <a:ln w="12700">
            <a:solidFill>
              <a:srgbClr val="005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6459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🛡️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Text Classification for Social Media Safety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— Project 2  |  BSCS Section B  | 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1783080" cy="1417320"/>
          </a:xfrm>
          <a:prstGeom prst="rect">
            <a:avLst/>
          </a:prstGeom>
          <a:solidFill>
            <a:srgbClr val="0D2137"/>
          </a:solidFill>
          <a:ln w="10160">
            <a:solidFill>
              <a:srgbClr val="005F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337560"/>
            <a:ext cx="178308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456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Ezzah Noor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3858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0" y="3337560"/>
            <a:ext cx="1783080" cy="1417320"/>
          </a:xfrm>
          <a:prstGeom prst="rect">
            <a:avLst/>
          </a:prstGeom>
          <a:solidFill>
            <a:srgbClr val="0D2137"/>
          </a:solidFill>
          <a:ln w="10160">
            <a:solidFill>
              <a:srgbClr val="005F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3337560"/>
            <a:ext cx="178308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3456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Eiman Farooq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59152" y="3858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(LR + LSTM)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0" y="3337560"/>
            <a:ext cx="1783080" cy="1417320"/>
          </a:xfrm>
          <a:prstGeom prst="rect">
            <a:avLst/>
          </a:prstGeom>
          <a:solidFill>
            <a:srgbClr val="0D2137"/>
          </a:solidFill>
          <a:ln w="10160">
            <a:solidFill>
              <a:srgbClr val="005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3337560"/>
            <a:ext cx="178308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3456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Momina Qayyum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79392" y="3858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+ Evaluation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651760" cy="64008"/>
          </a:xfrm>
          <a:prstGeom prst="rect">
            <a:avLst/>
          </a:prstGeom>
          <a:solidFill>
            <a:srgbClr val="0096D6"/>
          </a:solidFill>
          <a:ln w="12700">
            <a:solidFill>
              <a:srgbClr val="009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79222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9768" y="237744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users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to harassment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65176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704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179222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10128" y="237744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Teenagers cyberbullied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51560"/>
            <a:ext cx="26517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1704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😔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80760" y="179222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90488" y="237744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face anxiety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decline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547872"/>
            <a:ext cx="411480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6210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Cyberbullying?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0507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 is the use of digital platforms to harass, threaten, or humiliate individuals — especially teenagers — through repeated harmful content.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3547872"/>
            <a:ext cx="4206240" cy="1417320"/>
          </a:xfrm>
          <a:prstGeom prst="rect">
            <a:avLst/>
          </a:prstGeom>
          <a:solidFill>
            <a:srgbClr val="E8F8F5"/>
          </a:solidFill>
          <a:ln w="15240">
            <a:solidFill>
              <a:srgbClr val="00C9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6210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00507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"Social media platforms lack the capability to automatically detect harmful text, leaving millions of users vulnerable to online harassment daily."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Motivation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64008" cy="1783080"/>
          </a:xfrm>
          <a:prstGeom prst="rect">
            <a:avLst/>
          </a:prstGeom>
          <a:solidFill>
            <a:srgbClr val="0096D6"/>
          </a:solidFill>
          <a:ln w="12700">
            <a:solidFill>
              <a:srgbClr val="009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161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Social Media Platforms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609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Auto-flag harmful comments before they reach the victim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9568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moderation on Instagram, Twitter, TikTok, WhatsApp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2304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Reduces burden on human content moderators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16052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78992"/>
            <a:ext cx="64008" cy="17830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2161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Schools &amp; Parents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1609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Monitor student online activity for bullying patterns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73752" y="19568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Alert parents and counselors early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73752" y="2304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 safer digital learning environments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044952"/>
            <a:ext cx="416052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44952"/>
            <a:ext cx="64008" cy="17830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821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Mental Health Platforms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5753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Detect distress signals in user messages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9227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Trigger alerts to support teams in real time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4270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Prevent escalation of self-harm situations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044952"/>
            <a:ext cx="416052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44952"/>
            <a:ext cx="64008" cy="1783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1821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Corporate Environments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5753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Detect workplace harassment over Slack and Teams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73752" y="39227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HR alert system for toxic communication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73752" y="4270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Maintain professional workplace culture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Details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60520" cy="64008"/>
          </a:xfrm>
          <a:prstGeom prst="rect">
            <a:avLst/>
          </a:prstGeom>
          <a:solidFill>
            <a:srgbClr val="0096D6"/>
          </a:solidFill>
          <a:ln w="12700">
            <a:solidFill>
              <a:srgbClr val="009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61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Reddit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Public JSON API (no key needed)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r/teenagers, r/roastme, r/AITA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r/confession, r/unpopularopinion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340864"/>
            <a:ext cx="3840480" cy="502920"/>
          </a:xfrm>
          <a:prstGeom prst="rect">
            <a:avLst/>
          </a:prstGeom>
          <a:solidFill>
            <a:srgbClr val="0096D6">
              <a:alpha val="12000"/>
            </a:srgbClr>
          </a:solidFill>
          <a:ln w="12700">
            <a:solidFill>
              <a:srgbClr val="009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408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Collected: 1,000 real comments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16052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51560"/>
            <a:ext cx="4160520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61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  YouTube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572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YouTube Data API v3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8470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Queries: cyberbullying, harassment,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comments, hate speech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340864"/>
            <a:ext cx="3840480" cy="502920"/>
          </a:xfrm>
          <a:prstGeom prst="rect">
            <a:avLst/>
          </a:prstGeom>
          <a:solidFill>
            <a:srgbClr val="FF4757">
              <a:alpha val="12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408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Collected: 715 real comments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502920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2461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Strategy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6393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Class 0 — Normal: safe, neutral, positive comments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9410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Class 1 — Cyberbullying: harmful, offensive, threatening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2428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Method: keyword-based auto-labeling + manual review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544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Augmentation: text variations to balance bully class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0" y="3154680"/>
            <a:ext cx="333756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32461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Statistics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52360" y="36393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23560" y="39410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— Normal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52360" y="39410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  (50%)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23560" y="4242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— Bullying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52360" y="42428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  (50%)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2356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52360" y="45445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/ 138 / 144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24912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97864"/>
            <a:ext cx="457200" cy="4572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97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25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70078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text to lowercase for consistency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103120"/>
            <a:ext cx="2542032" cy="548640"/>
          </a:xfrm>
          <a:prstGeom prst="rect">
            <a:avLst/>
          </a:prstGeom>
          <a:solidFill>
            <a:srgbClr val="00C9B1">
              <a:alpha val="8000"/>
            </a:srgbClr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10312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UGLY" → "you are ugly"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63824" y="1078992"/>
            <a:ext cx="2724912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197864"/>
            <a:ext cx="457200" cy="457200"/>
          </a:xfrm>
          <a:prstGeom prst="ellipse">
            <a:avLst/>
          </a:prstGeom>
          <a:solidFill>
            <a:srgbClr val="0096D6"/>
          </a:solidFill>
          <a:ln w="12700">
            <a:solidFill>
              <a:srgbClr val="009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197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22192" y="1225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 &amp; Noise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55264" y="170078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URLs, hashtags, @mentions using regex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55264" y="2103120"/>
            <a:ext cx="2542032" cy="548640"/>
          </a:xfrm>
          <a:prstGeom prst="rect">
            <a:avLst/>
          </a:prstGeom>
          <a:solidFill>
            <a:srgbClr val="0096D6">
              <a:alpha val="8000"/>
            </a:srgbClr>
          </a:solidFill>
          <a:ln w="6350">
            <a:solidFill>
              <a:srgbClr val="009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00984" y="210312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 http://x.com @user #hate" → "check"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71616" y="1078992"/>
            <a:ext cx="2724912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1197864"/>
            <a:ext cx="457200" cy="457200"/>
          </a:xfrm>
          <a:prstGeom prst="ellipse">
            <a:avLst/>
          </a:prstGeom>
          <a:solidFill>
            <a:srgbClr val="005F8E"/>
          </a:solidFill>
          <a:ln w="12700">
            <a:solidFill>
              <a:srgbClr val="005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1197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9984" y="1225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63056" y="170078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letters, numbers and spaces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63056" y="2103120"/>
            <a:ext cx="2542032" cy="548640"/>
          </a:xfrm>
          <a:prstGeom prst="rect">
            <a:avLst/>
          </a:prstGeom>
          <a:solidFill>
            <a:srgbClr val="005F8E">
              <a:alpha val="8000"/>
            </a:srgbClr>
          </a:solidFill>
          <a:ln w="6350">
            <a:solidFill>
              <a:srgbClr val="005F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210312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"omg!!! u r so dumb😡" → "omg u r so dumb"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" y="2999232"/>
            <a:ext cx="2724912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118104"/>
            <a:ext cx="457200" cy="4572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14553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Tokenizer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7472" y="362102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Whitespace-based split — NO NLTK library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4023360"/>
            <a:ext cx="2542032" cy="548640"/>
          </a:xfrm>
          <a:prstGeom prst="rect">
            <a:avLst/>
          </a:prstGeom>
          <a:solidFill>
            <a:srgbClr val="7B2FBE">
              <a:alpha val="8000"/>
            </a:srgbClr>
          </a:solidFill>
          <a:ln w="6350">
            <a:solidFill>
              <a:srgbClr val="7B2F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402336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ugly" → ["you","are","ugly"]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63824" y="2999232"/>
            <a:ext cx="2724912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73552" y="3118104"/>
            <a:ext cx="457200" cy="45720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22192" y="314553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55264" y="362102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common words removed using manual list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55264" y="4023360"/>
            <a:ext cx="2542032" cy="548640"/>
          </a:xfrm>
          <a:prstGeom prst="rect">
            <a:avLst/>
          </a:prstGeom>
          <a:solidFill>
            <a:srgbClr val="D35400">
              <a:alpha val="8000"/>
            </a:srgbClr>
          </a:solidFill>
          <a:ln w="6350">
            <a:solidFill>
              <a:srgbClr val="D354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00984" y="402336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so stupid" → ["stupid"]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71616" y="2999232"/>
            <a:ext cx="2724912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81344" y="3118104"/>
            <a:ext cx="457200" cy="457200"/>
          </a:xfrm>
          <a:prstGeom prst="ellipse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1344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29984" y="314553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63056" y="362102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split with zero overlap, balanced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63056" y="4023360"/>
            <a:ext cx="2542032" cy="548640"/>
          </a:xfrm>
          <a:prstGeom prst="rect">
            <a:avLst/>
          </a:prstGeom>
          <a:solidFill>
            <a:srgbClr val="2ED573">
              <a:alpha val="8000"/>
            </a:srgbClr>
          </a:solidFill>
          <a:ln w="6350">
            <a:solidFill>
              <a:srgbClr val="2ED5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08776" y="402336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768 | Val 138 | Test 144 | Total 1,050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Complete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96112"/>
            <a:ext cx="1481328" cy="1005840"/>
          </a:xfrm>
          <a:prstGeom prst="rect">
            <a:avLst/>
          </a:prstGeom>
          <a:solidFill>
            <a:srgbClr val="1A4A6B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84248" y="1353312"/>
            <a:ext cx="182880" cy="91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896112"/>
            <a:ext cx="1481328" cy="1005840"/>
          </a:xfrm>
          <a:prstGeom prst="rect">
            <a:avLst/>
          </a:prstGeom>
          <a:solidFill>
            <a:srgbClr val="1A5A5A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67128" y="896112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48456" y="1353312"/>
            <a:ext cx="182880" cy="91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31336" y="896112"/>
            <a:ext cx="1481328" cy="1005840"/>
          </a:xfrm>
          <a:prstGeom prst="rect">
            <a:avLst/>
          </a:prstGeom>
          <a:solidFill>
            <a:srgbClr val="1A4A6B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31336" y="896112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12664" y="1353312"/>
            <a:ext cx="182880" cy="91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95544" y="896112"/>
            <a:ext cx="1481328" cy="1005840"/>
          </a:xfrm>
          <a:prstGeom prst="rect">
            <a:avLst/>
          </a:prstGeom>
          <a:solidFill>
            <a:srgbClr val="1A5A5A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95544" y="896112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76872" y="1353312"/>
            <a:ext cx="182880" cy="91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9752" y="896112"/>
            <a:ext cx="1481328" cy="1005840"/>
          </a:xfrm>
          <a:prstGeom prst="rect">
            <a:avLst/>
          </a:prstGeom>
          <a:solidFill>
            <a:srgbClr val="1A4A6B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59752" y="896112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057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Independently Trained Models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" y="2487168"/>
            <a:ext cx="2651760" cy="2487168"/>
          </a:xfrm>
          <a:prstGeom prst="rect">
            <a:avLst/>
          </a:prstGeom>
          <a:solidFill>
            <a:srgbClr val="112A45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487168"/>
            <a:ext cx="2651760" cy="411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4871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32004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TF-IDF features (3,000 vocab)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5204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Sigmoid + gradient descent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840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Binary cross-entropy loss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1605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Implemented from scratch (no sklearn)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" y="4498848"/>
            <a:ext cx="2468880" cy="411480"/>
          </a:xfrm>
          <a:prstGeom prst="rect">
            <a:avLst/>
          </a:prstGeom>
          <a:solidFill>
            <a:srgbClr val="FF4757">
              <a:alpha val="15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498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52.78%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67.92%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64408" y="2487168"/>
            <a:ext cx="2651760" cy="2487168"/>
          </a:xfrm>
          <a:prstGeom prst="rect">
            <a:avLst/>
          </a:prstGeom>
          <a:solidFill>
            <a:srgbClr val="0D2535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64408" y="2487168"/>
            <a:ext cx="2651760" cy="411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24871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64408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55848" y="32004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Word embeddings (dim=64)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55848" y="35204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4 gate matrices as nn.Parameter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55848" y="3840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nn.LSTM — manual recurrence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55848" y="41605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10 epochs, Adam optimizer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55848" y="4498848"/>
            <a:ext cx="2468880" cy="411480"/>
          </a:xfrm>
          <a:prstGeom prst="rect">
            <a:avLst/>
          </a:prstGeom>
          <a:solidFill>
            <a:srgbClr val="2ED573">
              <a:alpha val="15000"/>
            </a:srgbClr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55848" y="4498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91.67%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91.55%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44768" y="2487168"/>
            <a:ext cx="2651760" cy="2487168"/>
          </a:xfrm>
          <a:prstGeom prst="rect">
            <a:avLst/>
          </a:prstGeom>
          <a:solidFill>
            <a:srgbClr val="112A45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44768" y="2487168"/>
            <a:ext cx="2651760" cy="411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24871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44768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36208" y="32004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bert-base-uncased weights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36208" y="35204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 nn.Sequential head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36208" y="3840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BertForSequenceClassification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36208" y="41605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AdamW, 3 epochs fine-tuning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36208" y="4498848"/>
            <a:ext cx="2468880" cy="411480"/>
          </a:xfrm>
          <a:prstGeom prst="rect">
            <a:avLst/>
          </a:prstGeom>
          <a:solidFill>
            <a:srgbClr val="00C9B1">
              <a:alpha val="1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4498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84.72%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83.82%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Details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3977640"/>
        </p:xfrm>
        <a:graphic>
          <a:graphicData uri="http://schemas.openxmlformats.org/drawingml/2006/table">
            <a:tbl>
              <a:tblPr/>
              <a:tblGrid>
                <a:gridCol w="2286000"/>
                <a:gridCol w="2075688"/>
                <a:gridCol w="2075688"/>
                <a:gridCol w="20756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8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Split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train / 15% val / 15%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train / 15% val / 15%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train / 15% val / 15%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Input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(3,000 features)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Embeddings (dim = 64)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Tokenizer (max_len = 128)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weights + sigmoid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LSTM (nn.Parameter)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BertModel + nn.Sequential head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Cross-Entropy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BCEWithLogitsLoss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BCEWithLogitsLoss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 (lr=0.1)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(lr=0.001)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(lr=2e-5)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/ Batch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epochs / Full 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epochs / Batch=32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epochs / Batch=16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 (BERT default)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Met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sklearn used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nn.LSTM used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Trainer API used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Quantitative Comparison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24128"/>
          <a:ext cx="8503920" cy="1627632"/>
        </p:xfrm>
        <a:graphic>
          <a:graphicData uri="http://schemas.openxmlformats.org/drawingml/2006/table">
            <a:tbl>
              <a:tblPr/>
              <a:tblGrid>
                <a:gridCol w="3474720"/>
                <a:gridCol w="1261872"/>
                <a:gridCol w="1261872"/>
                <a:gridCol w="1261872"/>
                <a:gridCol w="1261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(Baseline)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51.43%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77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(Deep Learning)  ★ Best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(Transformer)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320040" y="2743200"/>
          <a:ext cx="521208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715000" y="2743200"/>
            <a:ext cx="310896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06440" y="2834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Confusion Matrix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3246120"/>
          <a:ext cx="2926080" cy="1417320"/>
        </p:xfrm>
        <a:graphic>
          <a:graphicData uri="http://schemas.openxmlformats.org/drawingml/2006/table">
            <a:tbl>
              <a:tblPr/>
              <a:tblGrid>
                <a:gridCol w="1005840"/>
                <a:gridCol w="960120"/>
                <a:gridCol w="960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D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TN: 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4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FP: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4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FN: 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D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TP: 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0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806440" y="473659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TP=65  FP=5  TN=67  FN=7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051224"/>
          </a:solidFill>
          <a:ln w="12700">
            <a:solidFill>
              <a:srgbClr val="0512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5715000" cy="777240"/>
          </a:xfrm>
          <a:prstGeom prst="rect">
            <a:avLst/>
          </a:prstGeom>
          <a:solidFill>
            <a:srgbClr val="FFFFFF">
              <a:alpha val="5000"/>
            </a:srgbClr>
          </a:solidFill>
          <a:ln w="1016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9326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and compared 3 cyberbullying detection models on 1,050 real social media comments from Reddit and YouTube.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5715000" cy="777240"/>
          </a:xfrm>
          <a:prstGeom prst="rect">
            <a:avLst/>
          </a:prstGeom>
          <a:solidFill>
            <a:srgbClr val="FFFFFF">
              <a:alpha val="5000"/>
            </a:srgbClr>
          </a:solidFill>
          <a:ln w="10160">
            <a:solidFill>
              <a:srgbClr val="00C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47088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8470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achieved the best overall performance: Accuracy 91.67% and F1-Score 91.55% — far outperforming the LR baseline.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5715000" cy="777240"/>
          </a:xfrm>
          <a:prstGeom prst="rect">
            <a:avLst/>
          </a:prstGeom>
          <a:solidFill>
            <a:srgbClr val="FFFFFF">
              <a:alpha val="5000"/>
            </a:srgbClr>
          </a:solidFill>
          <a:ln w="1016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61488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7614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built from scratch as required: TF-IDF math, LR gradient descent, LSTM gate matrices as nn.Parameter, custom BERT classifier head.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75888"/>
            <a:ext cx="5715000" cy="777240"/>
          </a:xfrm>
          <a:prstGeom prst="rect">
            <a:avLst/>
          </a:prstGeom>
          <a:solidFill>
            <a:srgbClr val="FFFFFF">
              <a:alpha val="5000"/>
            </a:srgbClr>
          </a:solidFill>
          <a:ln w="1016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75888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6758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— Accuracy, Precision, Recall, F1 — all computed from TP/FP/TN/FN without any sklearn.metrics.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320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804672"/>
            <a:ext cx="2468880" cy="530352"/>
          </a:xfrm>
          <a:prstGeom prst="rect">
            <a:avLst/>
          </a:prstGeom>
          <a:solidFill>
            <a:srgbClr val="0D1F35"/>
          </a:solidFill>
          <a:ln w="6350">
            <a:solidFill>
              <a:srgbClr val="005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82296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16368" y="82296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1,050 samples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46520" y="1408176"/>
            <a:ext cx="2468880" cy="530352"/>
          </a:xfrm>
          <a:prstGeom prst="rect">
            <a:avLst/>
          </a:prstGeom>
          <a:solidFill>
            <a:srgbClr val="0D1F35"/>
          </a:solidFill>
          <a:ln w="6350">
            <a:solidFill>
              <a:srgbClr val="005F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426464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16368" y="142646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+ YouTube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46520" y="2011680"/>
            <a:ext cx="2468880" cy="530352"/>
          </a:xfrm>
          <a:prstGeom prst="rect">
            <a:avLst/>
          </a:prstGeom>
          <a:solidFill>
            <a:srgbClr val="0D1F35"/>
          </a:solidFill>
          <a:ln w="6350">
            <a:solidFill>
              <a:srgbClr val="005F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029968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16368" y="202996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46520" y="2615184"/>
            <a:ext cx="2468880" cy="530352"/>
          </a:xfrm>
          <a:prstGeom prst="rect">
            <a:avLst/>
          </a:prstGeom>
          <a:solidFill>
            <a:srgbClr val="0D1F35"/>
          </a:solidFill>
          <a:ln w="6350">
            <a:solidFill>
              <a:srgbClr val="005F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633472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F1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16368" y="26334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67.92%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46520" y="3218688"/>
            <a:ext cx="2468880" cy="530352"/>
          </a:xfrm>
          <a:prstGeom prst="rect">
            <a:avLst/>
          </a:prstGeom>
          <a:solidFill>
            <a:srgbClr val="0D1F35"/>
          </a:solidFill>
          <a:ln w="6350">
            <a:solidFill>
              <a:srgbClr val="005F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236976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16368" y="323697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91.55% ★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46520" y="3822192"/>
            <a:ext cx="2468880" cy="530352"/>
          </a:xfrm>
          <a:prstGeom prst="rect">
            <a:avLst/>
          </a:prstGeom>
          <a:solidFill>
            <a:srgbClr val="0D1F35"/>
          </a:solidFill>
          <a:ln w="6350">
            <a:solidFill>
              <a:srgbClr val="005F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84048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16368" y="384048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83.82%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663440"/>
            <a:ext cx="5760720" cy="320040"/>
          </a:xfrm>
          <a:prstGeom prst="rect">
            <a:avLst/>
          </a:prstGeom>
          <a:solidFill>
            <a:srgbClr val="00C9B1">
              <a:alpha val="12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6634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Limitation: keyword-based annotation has some noise; augmented samples reduce diversity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46520" y="4800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github.com/Momina-13/Cyberbullying-Detector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Cyberbullying Detector</dc:title>
  <dc:subject>PptxGenJS Presentation</dc:subject>
  <dc:creator>PptxGenJS</dc:creator>
  <cp:lastModifiedBy>PptxGenJS</cp:lastModifiedBy>
  <cp:revision>1</cp:revision>
  <dcterms:created xsi:type="dcterms:W3CDTF">2026-05-19T16:30:11Z</dcterms:created>
  <dcterms:modified xsi:type="dcterms:W3CDTF">2026-05-19T16:30:11Z</dcterms:modified>
</cp:coreProperties>
</file>